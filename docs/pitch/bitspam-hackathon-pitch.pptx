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1" name="rec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D2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ect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6A11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"/>
          <p:cNvSpPr txBox="1"/>
          <p:nvPr/>
        </p:nvSpPr>
        <p:spPr>
          <a:xfrm>
            <a:off x="533400" y="438150"/>
            <a:ext cx="2476500" cy="304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FFE15A"/>
                </a:solidFill>
                <a:latin typeface="Aptos"/>
                <a:b/>
              </a:rPr>
              <a:t>BITSPAM</a:t>
            </a:r>
            <a:endParaRPr lang="en-US" sz="1600"/>
          </a:p>
        </p:txBody>
      </p:sp>
      <p:sp>
        <p:nvSpPr>
          <p:cNvPr id="14" name="text"/>
          <p:cNvSpPr txBox="1"/>
          <p:nvPr/>
        </p:nvSpPr>
        <p:spPr>
          <a:xfrm>
            <a:off x="533400" y="1104900"/>
            <a:ext cx="7429500" cy="14287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4800" dirty="0">
                <a:solidFill>
                  <a:srgbClr val="F8FBFF"/>
                </a:solidFill>
                <a:latin typeface="Aptos"/>
                <a:b/>
              </a:rPr>
              <a:t>Stop PR spam without closing the door on new contributors.</a:t>
            </a:r>
            <a:endParaRPr lang="en-US" sz="4800"/>
          </a:p>
        </p:txBody>
      </p:sp>
      <p:sp>
        <p:nvSpPr>
          <p:cNvPr id="15" name="text"/>
          <p:cNvSpPr txBox="1"/>
          <p:nvPr/>
        </p:nvSpPr>
        <p:spPr>
          <a:xfrm>
            <a:off x="571500" y="2781300"/>
            <a:ext cx="6477000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300" dirty="0">
                <a:solidFill>
                  <a:srgbClr val="9FB6C4"/>
                </a:solidFill>
                <a:latin typeface="Aptos"/>
              </a:rPr>
              <a:t>A GitHub App and maintainer dashboard that scores pull request quality, asks for proof of work, and protects scarce review attention.</a:t>
            </a:r>
            <a:endParaRPr lang="en-US" sz="2300"/>
          </a:p>
        </p:txBody>
      </p:sp>
      <p:sp>
        <p:nvSpPr>
          <p:cNvPr id="16" name="rect"/>
          <p:cNvSpPr/>
          <p:nvPr/>
        </p:nvSpPr>
        <p:spPr>
          <a:xfrm>
            <a:off x="7734300" y="1143000"/>
            <a:ext cx="2190750" cy="876300"/>
          </a:xfrm>
          <a:prstGeom prst="rect">
            <a:avLst/>
          </a:prstGeom>
          <a:solidFill>
            <a:srgbClr val="0D3447"/>
          </a:solidFill>
          <a:ln w="12700">
            <a:solidFill>
              <a:srgbClr val="2F6E88"/>
            </a:solidFill>
          </a:ln>
        </p:spPr>
        <p:txBody>
          <a:bodyPr/>
          <a:lstStyle/>
          <a:p/>
        </p:txBody>
      </p:sp>
      <p:sp>
        <p:nvSpPr>
          <p:cNvPr id="17" name="text"/>
          <p:cNvSpPr txBox="1"/>
          <p:nvPr/>
        </p:nvSpPr>
        <p:spPr>
          <a:xfrm>
            <a:off x="7905750" y="1285875"/>
            <a:ext cx="1809750" cy="3238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800" dirty="0">
                <a:solidFill>
                  <a:srgbClr val="FFE15A"/>
                </a:solidFill>
                <a:latin typeface="Aptos"/>
                <a:b/>
              </a:rPr>
              <a:t>$650 BTC</a:t>
            </a:r>
            <a:endParaRPr lang="en-US" sz="2800"/>
          </a:p>
        </p:txBody>
      </p:sp>
      <p:sp>
        <p:nvSpPr>
          <p:cNvPr id="18" name="text"/>
          <p:cNvSpPr txBox="1"/>
          <p:nvPr/>
        </p:nvSpPr>
        <p:spPr>
          <a:xfrm>
            <a:off x="7905750" y="1638300"/>
            <a:ext cx="1809750" cy="2667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400" dirty="0">
                <a:solidFill>
                  <a:srgbClr val="9FB6C4"/>
                </a:solidFill>
                <a:latin typeface="Aptos"/>
              </a:rPr>
              <a:t>Hackathon prize</a:t>
            </a:r>
            <a:endParaRPr lang="en-US" sz="1400"/>
          </a:p>
        </p:txBody>
      </p:sp>
      <p:sp>
        <p:nvSpPr>
          <p:cNvPr id="19" name="rect"/>
          <p:cNvSpPr/>
          <p:nvPr/>
        </p:nvSpPr>
        <p:spPr>
          <a:xfrm>
            <a:off x="7734300" y="2228850"/>
            <a:ext cx="2190750" cy="876300"/>
          </a:xfrm>
          <a:prstGeom prst="rect">
            <a:avLst/>
          </a:prstGeom>
          <a:solidFill>
            <a:srgbClr val="0D3447"/>
          </a:solidFill>
          <a:ln w="12700">
            <a:solidFill>
              <a:srgbClr val="2F6E88"/>
            </a:solidFill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7905750" y="2371725"/>
            <a:ext cx="1809750" cy="3238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800" dirty="0">
                <a:solidFill>
                  <a:srgbClr val="FFE15A"/>
                </a:solidFill>
                <a:latin typeface="Aptos"/>
                <a:b/>
              </a:rPr>
              <a:t>PR triage</a:t>
            </a:r>
            <a:endParaRPr lang="en-US" sz="2800"/>
          </a:p>
        </p:txBody>
      </p:sp>
      <p:sp>
        <p:nvSpPr>
          <p:cNvPr id="21" name="text"/>
          <p:cNvSpPr txBox="1"/>
          <p:nvPr/>
        </p:nvSpPr>
        <p:spPr>
          <a:xfrm>
            <a:off x="7905750" y="2724150"/>
            <a:ext cx="1809750" cy="2667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400" dirty="0">
                <a:solidFill>
                  <a:srgbClr val="9FB6C4"/>
                </a:solidFill>
                <a:latin typeface="Aptos"/>
              </a:rPr>
              <a:t>Core workflow</a:t>
            </a:r>
            <a:endParaRPr lang="en-US" sz="1400"/>
          </a:p>
        </p:txBody>
      </p:sp>
      <p:sp>
        <p:nvSpPr>
          <p:cNvPr id="22" name="rect"/>
          <p:cNvSpPr/>
          <p:nvPr/>
        </p:nvSpPr>
        <p:spPr>
          <a:xfrm>
            <a:off x="7734300" y="3314700"/>
            <a:ext cx="2190750" cy="876300"/>
          </a:xfrm>
          <a:prstGeom prst="rect">
            <a:avLst/>
          </a:prstGeom>
          <a:solidFill>
            <a:srgbClr val="0D3447"/>
          </a:solidFill>
          <a:ln w="12700">
            <a:solidFill>
              <a:srgbClr val="2F6E88"/>
            </a:solidFill>
          </a:ln>
        </p:spPr>
        <p:txBody>
          <a:bodyPr/>
          <a:lstStyle/>
          <a:p/>
        </p:txBody>
      </p:sp>
      <p:sp>
        <p:nvSpPr>
          <p:cNvPr id="23" name="text"/>
          <p:cNvSpPr txBox="1"/>
          <p:nvPr/>
        </p:nvSpPr>
        <p:spPr>
          <a:xfrm>
            <a:off x="7905750" y="3457575"/>
            <a:ext cx="1809750" cy="3238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800" dirty="0">
                <a:solidFill>
                  <a:srgbClr val="FFE15A"/>
                </a:solidFill>
                <a:latin typeface="Aptos"/>
                <a:b/>
              </a:rPr>
              <a:t>3 PRs</a:t>
            </a:r>
            <a:endParaRPr lang="en-US" sz="2800"/>
          </a:p>
        </p:txBody>
      </p:sp>
      <p:sp>
        <p:nvSpPr>
          <p:cNvPr id="24" name="text"/>
          <p:cNvSpPr txBox="1"/>
          <p:nvPr/>
        </p:nvSpPr>
        <p:spPr>
          <a:xfrm>
            <a:off x="7905750" y="3810000"/>
            <a:ext cx="1809750" cy="2667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400" dirty="0">
                <a:solidFill>
                  <a:srgbClr val="9FB6C4"/>
                </a:solidFill>
                <a:latin typeface="Aptos"/>
              </a:rPr>
              <a:t>Demo shape</a:t>
            </a:r>
            <a:endParaRPr lang="en-US" sz="1400"/>
          </a:p>
        </p:txBody>
      </p:sp>
      <p:sp>
        <p:nvSpPr>
          <p:cNvPr id="25" name="rect"/>
          <p:cNvSpPr/>
          <p:nvPr/>
        </p:nvSpPr>
        <p:spPr>
          <a:xfrm>
            <a:off x="533400" y="4095750"/>
            <a:ext cx="2552700" cy="323850"/>
          </a:xfrm>
          <a:prstGeom prst="rect">
            <a:avLst/>
          </a:prstGeom>
          <a:solidFill>
            <a:srgbClr val="071D2B"/>
          </a:solidFill>
          <a:ln w="25400">
            <a:solidFill>
              <a:srgbClr val="2F95FF"/>
            </a:solidFill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47700" y="4162425"/>
            <a:ext cx="2324100" cy="1714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300" dirty="0">
                <a:solidFill>
                  <a:srgbClr val="2F95FF"/>
                </a:solidFill>
                <a:latin typeface="Aptos"/>
                <a:b/>
              </a:rPr>
              <a:t>Built for open-source maintainers</a:t>
            </a:r>
            <a:endParaRPr lang="en-US" sz="1300"/>
          </a:p>
        </p:txBody>
      </p:sp>
      <p:sp>
        <p:nvSpPr>
          <p:cNvPr id="27" name="rect"/>
          <p:cNvSpPr/>
          <p:nvPr/>
        </p:nvSpPr>
        <p:spPr>
          <a:xfrm>
            <a:off x="3238500" y="4095750"/>
            <a:ext cx="2781300" cy="323850"/>
          </a:xfrm>
          <a:prstGeom prst="rect">
            <a:avLst/>
          </a:prstGeom>
          <a:solidFill>
            <a:srgbClr val="071D2B"/>
          </a:solidFill>
          <a:ln w="25400">
            <a:solidFill>
              <a:srgbClr val="FFE15A"/>
            </a:solidFill>
          </a:ln>
        </p:spPr>
        <p:txBody>
          <a:bodyPr/>
          <a:lstStyle/>
          <a:p/>
        </p:txBody>
      </p:sp>
      <p:sp>
        <p:nvSpPr>
          <p:cNvPr id="28" name="text"/>
          <p:cNvSpPr txBox="1"/>
          <p:nvPr/>
        </p:nvSpPr>
        <p:spPr>
          <a:xfrm>
            <a:off x="3352800" y="4162425"/>
            <a:ext cx="2552700" cy="1714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300" dirty="0">
                <a:solidFill>
                  <a:srgbClr val="FFE15A"/>
                </a:solidFill>
                <a:latin typeface="Aptos"/>
                <a:b/>
              </a:rPr>
              <a:t>Deterministic checks + Gemini</a:t>
            </a:r>
            <a:endParaRPr lang="en-US" sz="1300"/>
          </a:p>
        </p:txBody>
      </p:sp>
      <p:sp>
        <p:nvSpPr>
          <p:cNvPr id="29" name="rect"/>
          <p:cNvSpPr/>
          <p:nvPr/>
        </p:nvSpPr>
        <p:spPr>
          <a:xfrm>
            <a:off x="571500" y="4895850"/>
            <a:ext cx="85725" cy="85725"/>
          </a:xfrm>
          <a:prstGeom prst="rect">
            <a:avLst/>
          </a:prstGeom>
          <a:solidFill>
            <a:srgbClr val="56D690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text"/>
          <p:cNvSpPr txBox="1"/>
          <p:nvPr/>
        </p:nvSpPr>
        <p:spPr>
          <a:xfrm>
            <a:off x="781050" y="4819650"/>
            <a:ext cx="5143500" cy="4191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900" dirty="0">
                <a:solidFill>
                  <a:srgbClr val="F8FBFF"/>
                </a:solidFill>
                <a:latin typeface="Aptos"/>
              </a:rPr>
              <a:t>Good PR passes quickly</a:t>
            </a:r>
            <a:endParaRPr lang="en-US" sz="1900"/>
          </a:p>
        </p:txBody>
      </p:sp>
      <p:sp>
        <p:nvSpPr>
          <p:cNvPr id="31" name="rect"/>
          <p:cNvSpPr/>
          <p:nvPr/>
        </p:nvSpPr>
        <p:spPr>
          <a:xfrm>
            <a:off x="571500" y="5295900"/>
            <a:ext cx="85725" cy="85725"/>
          </a:xfrm>
          <a:prstGeom prst="rect">
            <a:avLst/>
          </a:prstGeom>
          <a:solidFill>
            <a:srgbClr val="F6A11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781050" y="5219700"/>
            <a:ext cx="5143500" cy="4191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900" dirty="0">
                <a:solidFill>
                  <a:srgbClr val="F8FBFF"/>
                </a:solidFill>
                <a:latin typeface="Aptos"/>
              </a:rPr>
              <a:t>Weak PR gets concrete improvement requests</a:t>
            </a:r>
            <a:endParaRPr lang="en-US" sz="1900"/>
          </a:p>
        </p:txBody>
      </p:sp>
      <p:sp>
        <p:nvSpPr>
          <p:cNvPr id="33" name="rect"/>
          <p:cNvSpPr/>
          <p:nvPr/>
        </p:nvSpPr>
        <p:spPr>
          <a:xfrm>
            <a:off x="571500" y="5695950"/>
            <a:ext cx="85725" cy="85725"/>
          </a:xfrm>
          <a:prstGeom prst="rect">
            <a:avLst/>
          </a:prstGeom>
          <a:solidFill>
            <a:srgbClr val="F05D5E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text"/>
          <p:cNvSpPr txBox="1"/>
          <p:nvPr/>
        </p:nvSpPr>
        <p:spPr>
          <a:xfrm>
            <a:off x="781050" y="5619750"/>
            <a:ext cx="5143500" cy="4191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900" dirty="0">
                <a:solidFill>
                  <a:srgbClr val="F8FBFF"/>
                </a:solidFill>
                <a:latin typeface="Aptos"/>
              </a:rPr>
              <a:t>Risky PR is escalated before review time is burned</a:t>
            </a:r>
            <a:endParaRPr lang="en-US" sz="1900"/>
          </a:p>
        </p:txBody>
      </p:sp>
      <p:sp>
        <p:nvSpPr>
          <p:cNvPr id="35" name="text"/>
          <p:cNvSpPr txBox="1"/>
          <p:nvPr/>
        </p:nvSpPr>
        <p:spPr>
          <a:xfrm>
            <a:off x="533400" y="63627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400" dirty="0">
                <a:solidFill>
                  <a:srgbClr val="9FB6C4"/>
                </a:solidFill>
                <a:latin typeface="Aptos"/>
                <a:b/>
              </a:rPr>
              <a:t>BitSpam</a:t>
            </a:r>
            <a:endParaRPr lang="en-US" sz="1400"/>
          </a:p>
        </p:txBody>
      </p:sp>
      <p:sp>
        <p:nvSpPr>
          <p:cNvPr id="36" name="text"/>
          <p:cNvSpPr txBox="1"/>
          <p:nvPr/>
        </p:nvSpPr>
        <p:spPr>
          <a:xfrm>
            <a:off x="11144250" y="6362700"/>
            <a:ext cx="51435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solidFill>
                  <a:srgbClr val="9FB6C4"/>
                </a:solidFill>
                <a:latin typeface="Aptos"/>
                <a:b/>
              </a:rPr>
              <a:t>01</a:t>
            </a:r>
            <a:endParaRPr lang="en-US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7" name="rec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D2B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rect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6A11A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text"/>
          <p:cNvSpPr txBox="1"/>
          <p:nvPr/>
        </p:nvSpPr>
        <p:spPr>
          <a:xfrm>
            <a:off x="533400" y="361950"/>
            <a:ext cx="3048000" cy="2667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400" dirty="0">
                <a:solidFill>
                  <a:srgbClr val="FFE15A"/>
                </a:solidFill>
                <a:latin typeface="Aptos"/>
                <a:b/>
              </a:rPr>
              <a:t>PROBLEM</a:t>
            </a:r>
            <a:endParaRPr lang="en-US" sz="1400"/>
          </a:p>
        </p:txBody>
      </p:sp>
      <p:sp>
        <p:nvSpPr>
          <p:cNvPr id="40" name="text"/>
          <p:cNvSpPr txBox="1"/>
          <p:nvPr/>
        </p:nvSpPr>
        <p:spPr>
          <a:xfrm>
            <a:off x="533400" y="685800"/>
            <a:ext cx="8191500" cy="990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3800" dirty="0">
                <a:solidFill>
                  <a:srgbClr val="F8FBFF"/>
                </a:solidFill>
                <a:latin typeface="Aptos"/>
                <a:b/>
              </a:rPr>
              <a:t>Maintainers are drowning in plausible-looking review noise.</a:t>
            </a:r>
            <a:endParaRPr lang="en-US" sz="3800"/>
          </a:p>
        </p:txBody>
      </p:sp>
      <p:sp>
        <p:nvSpPr>
          <p:cNvPr id="41" name="rect"/>
          <p:cNvSpPr/>
          <p:nvPr/>
        </p:nvSpPr>
        <p:spPr>
          <a:xfrm>
            <a:off x="533400" y="1695450"/>
            <a:ext cx="11125200" cy="19050"/>
          </a:xfrm>
          <a:prstGeom prst="rect">
            <a:avLst/>
          </a:prstGeom>
          <a:solidFill>
            <a:srgbClr val="2F6E88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rect"/>
          <p:cNvSpPr/>
          <p:nvPr/>
        </p:nvSpPr>
        <p:spPr>
          <a:xfrm>
            <a:off x="533400" y="2114550"/>
            <a:ext cx="4953000" cy="3143250"/>
          </a:xfrm>
          <a:prstGeom prst="rect">
            <a:avLst/>
          </a:prstGeom>
          <a:solidFill>
            <a:srgbClr val="0D3447"/>
          </a:solidFill>
          <a:ln w="12700">
            <a:solidFill>
              <a:srgbClr val="2F6E88"/>
            </a:solidFill>
          </a:ln>
        </p:spPr>
        <p:txBody>
          <a:bodyPr/>
          <a:lstStyle/>
          <a:p/>
        </p:txBody>
      </p:sp>
      <p:sp>
        <p:nvSpPr>
          <p:cNvPr id="43" name="text"/>
          <p:cNvSpPr txBox="1"/>
          <p:nvPr/>
        </p:nvSpPr>
        <p:spPr>
          <a:xfrm>
            <a:off x="819150" y="2400300"/>
            <a:ext cx="4000500" cy="3619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600" dirty="0">
                <a:solidFill>
                  <a:srgbClr val="F8FBFF"/>
                </a:solidFill>
                <a:latin typeface="Aptos"/>
                <a:b/>
              </a:rPr>
              <a:t>Spam has changed shape</a:t>
            </a:r>
            <a:endParaRPr lang="en-US" sz="2600"/>
          </a:p>
        </p:txBody>
      </p:sp>
      <p:sp>
        <p:nvSpPr>
          <p:cNvPr id="44" name="rect"/>
          <p:cNvSpPr/>
          <p:nvPr/>
        </p:nvSpPr>
        <p:spPr>
          <a:xfrm>
            <a:off x="857250" y="3086100"/>
            <a:ext cx="85725" cy="85725"/>
          </a:xfrm>
          <a:prstGeom prst="rect">
            <a:avLst/>
          </a:prstGeom>
          <a:solidFill>
            <a:srgbClr val="F6A11A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text"/>
          <p:cNvSpPr txBox="1"/>
          <p:nvPr/>
        </p:nvSpPr>
        <p:spPr>
          <a:xfrm>
            <a:off x="1066800" y="3009900"/>
            <a:ext cx="5143500" cy="4191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900" dirty="0">
                <a:solidFill>
                  <a:srgbClr val="F8FBFF"/>
                </a:solidFill>
                <a:latin typeface="Aptos"/>
              </a:rPr>
              <a:t>AI-generated PRs can look polite but skip evidence.</a:t>
            </a:r>
            <a:endParaRPr lang="en-US" sz="1900"/>
          </a:p>
        </p:txBody>
      </p:sp>
      <p:sp>
        <p:nvSpPr>
          <p:cNvPr id="46" name="rect"/>
          <p:cNvSpPr/>
          <p:nvPr/>
        </p:nvSpPr>
        <p:spPr>
          <a:xfrm>
            <a:off x="857250" y="3638550"/>
            <a:ext cx="85725" cy="85725"/>
          </a:xfrm>
          <a:prstGeom prst="rect">
            <a:avLst/>
          </a:prstGeom>
          <a:solidFill>
            <a:srgbClr val="F6A11A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text"/>
          <p:cNvSpPr txBox="1"/>
          <p:nvPr/>
        </p:nvSpPr>
        <p:spPr>
          <a:xfrm>
            <a:off x="1066800" y="3562350"/>
            <a:ext cx="5143500" cy="4191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900" dirty="0">
                <a:solidFill>
                  <a:srgbClr val="F8FBFF"/>
                </a:solidFill>
                <a:latin typeface="Aptos"/>
              </a:rPr>
              <a:t>Generic descriptions force maintainers to reverse-engineer intent.</a:t>
            </a:r>
            <a:endParaRPr lang="en-US" sz="1900"/>
          </a:p>
        </p:txBody>
      </p:sp>
      <p:sp>
        <p:nvSpPr>
          <p:cNvPr id="48" name="rect"/>
          <p:cNvSpPr/>
          <p:nvPr/>
        </p:nvSpPr>
        <p:spPr>
          <a:xfrm>
            <a:off x="857250" y="4191000"/>
            <a:ext cx="85725" cy="85725"/>
          </a:xfrm>
          <a:prstGeom prst="rect">
            <a:avLst/>
          </a:prstGeom>
          <a:solidFill>
            <a:srgbClr val="F6A11A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text"/>
          <p:cNvSpPr txBox="1"/>
          <p:nvPr/>
        </p:nvSpPr>
        <p:spPr>
          <a:xfrm>
            <a:off x="1066800" y="4114800"/>
            <a:ext cx="5143500" cy="4191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900" dirty="0">
                <a:solidFill>
                  <a:srgbClr val="F8FBFF"/>
                </a:solidFill>
                <a:latin typeface="Aptos"/>
              </a:rPr>
              <a:t>Large diffs, lockfiles, and workflows hide risk in noise.</a:t>
            </a:r>
            <a:endParaRPr lang="en-US" sz="1900"/>
          </a:p>
        </p:txBody>
      </p:sp>
      <p:sp>
        <p:nvSpPr>
          <p:cNvPr id="50" name="rect"/>
          <p:cNvSpPr/>
          <p:nvPr/>
        </p:nvSpPr>
        <p:spPr>
          <a:xfrm>
            <a:off x="6115050" y="2114550"/>
            <a:ext cx="5543550" cy="3143250"/>
          </a:xfrm>
          <a:prstGeom prst="rect">
            <a:avLst/>
          </a:prstGeom>
          <a:solidFill>
            <a:srgbClr val="102D3E"/>
          </a:solidFill>
          <a:ln w="12700">
            <a:solidFill>
              <a:srgbClr val="2F6E88"/>
            </a:solidFill>
          </a:ln>
        </p:spPr>
        <p:txBody>
          <a:bodyPr/>
          <a:lstStyle/>
          <a:p/>
        </p:txBody>
      </p:sp>
      <p:sp>
        <p:nvSpPr>
          <p:cNvPr id="51" name="text"/>
          <p:cNvSpPr txBox="1"/>
          <p:nvPr/>
        </p:nvSpPr>
        <p:spPr>
          <a:xfrm>
            <a:off x="6400800" y="2400300"/>
            <a:ext cx="4000500" cy="3619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600" dirty="0">
                <a:solidFill>
                  <a:srgbClr val="F8FBFF"/>
                </a:solidFill>
                <a:latin typeface="Aptos"/>
                <a:b/>
              </a:rPr>
              <a:t>The real cost is attention</a:t>
            </a:r>
            <a:endParaRPr lang="en-US" sz="2600"/>
          </a:p>
        </p:txBody>
      </p:sp>
      <p:sp>
        <p:nvSpPr>
          <p:cNvPr id="52" name="text"/>
          <p:cNvSpPr txBox="1"/>
          <p:nvPr/>
        </p:nvSpPr>
        <p:spPr>
          <a:xfrm>
            <a:off x="6400800" y="3028950"/>
            <a:ext cx="4476750" cy="11811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300" dirty="0">
                <a:solidFill>
                  <a:srgbClr val="9FB6C4"/>
                </a:solidFill>
                <a:latin typeface="Aptos"/>
              </a:rPr>
              <a:t>BitSpam treats review time as the scarce resource. It does not ask whether a contributor is new. It asks whether the PR gives maintainers enough proof to review responsibly.</a:t>
            </a:r>
            <a:endParaRPr lang="en-US" sz="2300"/>
          </a:p>
        </p:txBody>
      </p:sp>
      <p:sp>
        <p:nvSpPr>
          <p:cNvPr id="53" name="text"/>
          <p:cNvSpPr txBox="1"/>
          <p:nvPr/>
        </p:nvSpPr>
        <p:spPr>
          <a:xfrm>
            <a:off x="6400800" y="45339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200" dirty="0">
                <a:solidFill>
                  <a:srgbClr val="FFE15A"/>
                </a:solidFill>
                <a:latin typeface="Aptos"/>
                <a:b/>
              </a:rPr>
              <a:t>Goal: stop spam while preserving a fair path for serious contributors.</a:t>
            </a:r>
            <a:endParaRPr lang="en-US" sz="2200"/>
          </a:p>
        </p:txBody>
      </p:sp>
      <p:sp>
        <p:nvSpPr>
          <p:cNvPr id="54" name="text"/>
          <p:cNvSpPr txBox="1"/>
          <p:nvPr/>
        </p:nvSpPr>
        <p:spPr>
          <a:xfrm>
            <a:off x="533400" y="63627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400" dirty="0">
                <a:solidFill>
                  <a:srgbClr val="9FB6C4"/>
                </a:solidFill>
                <a:latin typeface="Aptos"/>
                <a:b/>
              </a:rPr>
              <a:t>BitSpam</a:t>
            </a:r>
            <a:endParaRPr lang="en-US" sz="1400"/>
          </a:p>
        </p:txBody>
      </p:sp>
      <p:sp>
        <p:nvSpPr>
          <p:cNvPr id="55" name="text"/>
          <p:cNvSpPr txBox="1"/>
          <p:nvPr/>
        </p:nvSpPr>
        <p:spPr>
          <a:xfrm>
            <a:off x="11144250" y="6362700"/>
            <a:ext cx="51435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solidFill>
                  <a:srgbClr val="9FB6C4"/>
                </a:solidFill>
                <a:latin typeface="Aptos"/>
                <a:b/>
              </a:rPr>
              <a:t>02</a:t>
            </a:r>
            <a:endParaRPr 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6" name="rec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D2B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rect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6A11A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text"/>
          <p:cNvSpPr txBox="1"/>
          <p:nvPr/>
        </p:nvSpPr>
        <p:spPr>
          <a:xfrm>
            <a:off x="533400" y="361950"/>
            <a:ext cx="3048000" cy="2667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400" dirty="0">
                <a:solidFill>
                  <a:srgbClr val="FFE15A"/>
                </a:solidFill>
                <a:latin typeface="Aptos"/>
                <a:b/>
              </a:rPr>
              <a:t>SOLUTION</a:t>
            </a:r>
            <a:endParaRPr lang="en-US" sz="1400"/>
          </a:p>
        </p:txBody>
      </p:sp>
      <p:sp>
        <p:nvSpPr>
          <p:cNvPr id="59" name="text"/>
          <p:cNvSpPr txBox="1"/>
          <p:nvPr/>
        </p:nvSpPr>
        <p:spPr>
          <a:xfrm>
            <a:off x="533400" y="685800"/>
            <a:ext cx="8191500" cy="990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3800" dirty="0">
                <a:solidFill>
                  <a:srgbClr val="F8FBFF"/>
                </a:solidFill>
                <a:latin typeface="Aptos"/>
                <a:b/>
              </a:rPr>
              <a:t>BitSpam turns each PR into a maintainer-ready decision packet.</a:t>
            </a:r>
            <a:endParaRPr lang="en-US" sz="3800"/>
          </a:p>
        </p:txBody>
      </p:sp>
      <p:sp>
        <p:nvSpPr>
          <p:cNvPr id="60" name="rect"/>
          <p:cNvSpPr/>
          <p:nvPr/>
        </p:nvSpPr>
        <p:spPr>
          <a:xfrm>
            <a:off x="533400" y="1695450"/>
            <a:ext cx="11125200" cy="19050"/>
          </a:xfrm>
          <a:prstGeom prst="rect">
            <a:avLst/>
          </a:prstGeom>
          <a:solidFill>
            <a:srgbClr val="2F6E88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rect"/>
          <p:cNvSpPr/>
          <p:nvPr/>
        </p:nvSpPr>
        <p:spPr>
          <a:xfrm>
            <a:off x="723900" y="2476500"/>
            <a:ext cx="2190750" cy="1123950"/>
          </a:xfrm>
          <a:prstGeom prst="rect">
            <a:avLst/>
          </a:prstGeom>
          <a:solidFill>
            <a:srgbClr val="0D3447"/>
          </a:solidFill>
          <a:ln w="25400">
            <a:solidFill>
              <a:srgbClr val="FFE15A"/>
            </a:solidFill>
          </a:ln>
        </p:spPr>
        <p:txBody>
          <a:bodyPr/>
          <a:lstStyle/>
          <a:p/>
        </p:txBody>
      </p:sp>
      <p:sp>
        <p:nvSpPr>
          <p:cNvPr id="62" name="text"/>
          <p:cNvSpPr txBox="1"/>
          <p:nvPr/>
        </p:nvSpPr>
        <p:spPr>
          <a:xfrm>
            <a:off x="895350" y="2628900"/>
            <a:ext cx="1847850" cy="2667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100" dirty="0">
                <a:solidFill>
                  <a:srgbClr val="FFE15A"/>
                </a:solidFill>
                <a:latin typeface="Aptos"/>
                <a:b/>
              </a:rPr>
              <a:t>Score</a:t>
            </a:r>
            <a:endParaRPr lang="en-US" sz="2100"/>
          </a:p>
        </p:txBody>
      </p:sp>
      <p:sp>
        <p:nvSpPr>
          <p:cNvPr id="63" name="text"/>
          <p:cNvSpPr txBox="1"/>
          <p:nvPr/>
        </p:nvSpPr>
        <p:spPr>
          <a:xfrm>
            <a:off x="895350" y="2971800"/>
            <a:ext cx="1847850" cy="4953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9FB6C4"/>
                </a:solidFill>
                <a:latin typeface="Aptos"/>
              </a:rPr>
              <a:t>0-100 quality score from deterministic checks plus optional AI summary.</a:t>
            </a:r>
            <a:endParaRPr lang="en-US" sz="1600"/>
          </a:p>
        </p:txBody>
      </p:sp>
      <p:sp>
        <p:nvSpPr>
          <p:cNvPr id="64" name="rect"/>
          <p:cNvSpPr/>
          <p:nvPr/>
        </p:nvSpPr>
        <p:spPr>
          <a:xfrm>
            <a:off x="3371850" y="2476500"/>
            <a:ext cx="2190750" cy="1123950"/>
          </a:xfrm>
          <a:prstGeom prst="rect">
            <a:avLst/>
          </a:prstGeom>
          <a:solidFill>
            <a:srgbClr val="0D3447"/>
          </a:solidFill>
          <a:ln w="25400">
            <a:solidFill>
              <a:srgbClr val="2F95FF"/>
            </a:solidFill>
          </a:ln>
        </p:spPr>
        <p:txBody>
          <a:bodyPr/>
          <a:lstStyle/>
          <a:p/>
        </p:txBody>
      </p:sp>
      <p:sp>
        <p:nvSpPr>
          <p:cNvPr id="65" name="text"/>
          <p:cNvSpPr txBox="1"/>
          <p:nvPr/>
        </p:nvSpPr>
        <p:spPr>
          <a:xfrm>
            <a:off x="3543300" y="2628900"/>
            <a:ext cx="1847850" cy="2667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100" dirty="0">
                <a:solidFill>
                  <a:srgbClr val="2F95FF"/>
                </a:solidFill>
                <a:latin typeface="Aptos"/>
                <a:b/>
              </a:rPr>
              <a:t>Verdict</a:t>
            </a:r>
            <a:endParaRPr lang="en-US" sz="2100"/>
          </a:p>
        </p:txBody>
      </p:sp>
      <p:sp>
        <p:nvSpPr>
          <p:cNvPr id="66" name="text"/>
          <p:cNvSpPr txBox="1"/>
          <p:nvPr/>
        </p:nvSpPr>
        <p:spPr>
          <a:xfrm>
            <a:off x="3543300" y="2971800"/>
            <a:ext cx="1847850" cy="4953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9FB6C4"/>
                </a:solidFill>
                <a:latin typeface="Aptos"/>
              </a:rPr>
              <a:t>Review ready, needs small fixes, needs proof, likely low quality, or high risk.</a:t>
            </a:r>
            <a:endParaRPr lang="en-US" sz="1600"/>
          </a:p>
        </p:txBody>
      </p:sp>
      <p:sp>
        <p:nvSpPr>
          <p:cNvPr id="67" name="rect"/>
          <p:cNvSpPr/>
          <p:nvPr/>
        </p:nvSpPr>
        <p:spPr>
          <a:xfrm>
            <a:off x="6019800" y="2476500"/>
            <a:ext cx="2190750" cy="1123950"/>
          </a:xfrm>
          <a:prstGeom prst="rect">
            <a:avLst/>
          </a:prstGeom>
          <a:solidFill>
            <a:srgbClr val="0D3447"/>
          </a:solidFill>
          <a:ln w="25400">
            <a:solidFill>
              <a:srgbClr val="F6A11A"/>
            </a:solidFill>
          </a:ln>
        </p:spPr>
        <p:txBody>
          <a:bodyPr/>
          <a:lstStyle/>
          <a:p/>
        </p:txBody>
      </p:sp>
      <p:sp>
        <p:nvSpPr>
          <p:cNvPr id="68" name="text"/>
          <p:cNvSpPr txBox="1"/>
          <p:nvPr/>
        </p:nvSpPr>
        <p:spPr>
          <a:xfrm>
            <a:off x="6191250" y="2628900"/>
            <a:ext cx="1847850" cy="2667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100" dirty="0">
                <a:solidFill>
                  <a:srgbClr val="F6A11A"/>
                </a:solidFill>
                <a:latin typeface="Aptos"/>
                <a:b/>
              </a:rPr>
              <a:t>Findings</a:t>
            </a:r>
            <a:endParaRPr lang="en-US" sz="2100"/>
          </a:p>
        </p:txBody>
      </p:sp>
      <p:sp>
        <p:nvSpPr>
          <p:cNvPr id="69" name="text"/>
          <p:cNvSpPr txBox="1"/>
          <p:nvPr/>
        </p:nvSpPr>
        <p:spPr>
          <a:xfrm>
            <a:off x="6191250" y="2971800"/>
            <a:ext cx="1847850" cy="4953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9FB6C4"/>
                </a:solidFill>
                <a:latin typeface="Aptos"/>
              </a:rPr>
              <a:t>Intent, issue link, scope, tests, risky paths, CI, contributor history.</a:t>
            </a:r>
            <a:endParaRPr lang="en-US" sz="1600"/>
          </a:p>
        </p:txBody>
      </p:sp>
      <p:sp>
        <p:nvSpPr>
          <p:cNvPr id="70" name="rect"/>
          <p:cNvSpPr/>
          <p:nvPr/>
        </p:nvSpPr>
        <p:spPr>
          <a:xfrm>
            <a:off x="8667750" y="2476500"/>
            <a:ext cx="2190750" cy="1123950"/>
          </a:xfrm>
          <a:prstGeom prst="rect">
            <a:avLst/>
          </a:prstGeom>
          <a:solidFill>
            <a:srgbClr val="0D3447"/>
          </a:solidFill>
          <a:ln w="25400">
            <a:solidFill>
              <a:srgbClr val="56D690"/>
            </a:solidFill>
          </a:ln>
        </p:spPr>
        <p:txBody>
          <a:bodyPr/>
          <a:lstStyle/>
          <a:p/>
        </p:txBody>
      </p:sp>
      <p:sp>
        <p:nvSpPr>
          <p:cNvPr id="71" name="text"/>
          <p:cNvSpPr txBox="1"/>
          <p:nvPr/>
        </p:nvSpPr>
        <p:spPr>
          <a:xfrm>
            <a:off x="8839200" y="2628900"/>
            <a:ext cx="1847850" cy="2667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100" dirty="0">
                <a:solidFill>
                  <a:srgbClr val="56D690"/>
                </a:solidFill>
                <a:latin typeface="Aptos"/>
                <a:b/>
              </a:rPr>
              <a:t>Action</a:t>
            </a:r>
            <a:endParaRPr lang="en-US" sz="2100"/>
          </a:p>
        </p:txBody>
      </p:sp>
      <p:sp>
        <p:nvSpPr>
          <p:cNvPr id="72" name="text"/>
          <p:cNvSpPr txBox="1"/>
          <p:nvPr/>
        </p:nvSpPr>
        <p:spPr>
          <a:xfrm>
            <a:off x="8839200" y="2971800"/>
            <a:ext cx="1847850" cy="4953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9FB6C4"/>
                </a:solidFill>
                <a:latin typeface="Aptos"/>
              </a:rPr>
              <a:t>Copyable comment, dashboard history, check run, labels, proof comments.</a:t>
            </a:r>
            <a:endParaRPr lang="en-US" sz="1600"/>
          </a:p>
        </p:txBody>
      </p:sp>
      <p:sp>
        <p:nvSpPr>
          <p:cNvPr id="73" name="rect"/>
          <p:cNvSpPr/>
          <p:nvPr/>
        </p:nvSpPr>
        <p:spPr>
          <a:xfrm>
            <a:off x="2743200" y="3028950"/>
            <a:ext cx="438150" cy="38100"/>
          </a:xfrm>
          <a:prstGeom prst="rect">
            <a:avLst/>
          </a:prstGeom>
          <a:solidFill>
            <a:srgbClr val="2F6E88"/>
          </a:solidFill>
          <a:ln>
            <a:noFill/>
          </a:ln>
        </p:spPr>
        <p:txBody>
          <a:bodyPr/>
          <a:lstStyle/>
          <a:p/>
        </p:txBody>
      </p:sp>
      <p:sp>
        <p:nvSpPr>
          <p:cNvPr id="74" name="rect"/>
          <p:cNvSpPr/>
          <p:nvPr/>
        </p:nvSpPr>
        <p:spPr>
          <a:xfrm>
            <a:off x="5391150" y="3028950"/>
            <a:ext cx="438150" cy="38100"/>
          </a:xfrm>
          <a:prstGeom prst="rect">
            <a:avLst/>
          </a:prstGeom>
          <a:solidFill>
            <a:srgbClr val="2F6E88"/>
          </a:solidFill>
          <a:ln>
            <a:noFill/>
          </a:ln>
        </p:spPr>
        <p:txBody>
          <a:bodyPr/>
          <a:lstStyle/>
          <a:p/>
        </p:txBody>
      </p:sp>
      <p:sp>
        <p:nvSpPr>
          <p:cNvPr id="75" name="rect"/>
          <p:cNvSpPr/>
          <p:nvPr/>
        </p:nvSpPr>
        <p:spPr>
          <a:xfrm>
            <a:off x="8039100" y="3028950"/>
            <a:ext cx="438150" cy="38100"/>
          </a:xfrm>
          <a:prstGeom prst="rect">
            <a:avLst/>
          </a:prstGeom>
          <a:solidFill>
            <a:srgbClr val="2F6E88"/>
          </a:solidFill>
          <a:ln>
            <a:noFill/>
          </a:ln>
        </p:spPr>
        <p:txBody>
          <a:bodyPr/>
          <a:lstStyle/>
          <a:p/>
        </p:txBody>
      </p:sp>
      <p:sp>
        <p:nvSpPr>
          <p:cNvPr id="76" name="text"/>
          <p:cNvSpPr txBox="1"/>
          <p:nvPr/>
        </p:nvSpPr>
        <p:spPr>
          <a:xfrm>
            <a:off x="1047750" y="5010150"/>
            <a:ext cx="9525000" cy="533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200" dirty="0">
                <a:solidFill>
                  <a:srgbClr val="F8FBFF"/>
                </a:solidFill>
                <a:latin typeface="Aptos"/>
              </a:rPr>
              <a:t>The output is not a replacement for maintainers. It moves weak PRs into a proof-of-work path before review time is spent.</a:t>
            </a:r>
            <a:endParaRPr lang="en-US" sz="2200"/>
          </a:p>
        </p:txBody>
      </p:sp>
      <p:sp>
        <p:nvSpPr>
          <p:cNvPr id="77" name="text"/>
          <p:cNvSpPr txBox="1"/>
          <p:nvPr/>
        </p:nvSpPr>
        <p:spPr>
          <a:xfrm>
            <a:off x="533400" y="63627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400" dirty="0">
                <a:solidFill>
                  <a:srgbClr val="9FB6C4"/>
                </a:solidFill>
                <a:latin typeface="Aptos"/>
                <a:b/>
              </a:rPr>
              <a:t>BitSpam</a:t>
            </a:r>
            <a:endParaRPr lang="en-US" sz="1400"/>
          </a:p>
        </p:txBody>
      </p:sp>
      <p:sp>
        <p:nvSpPr>
          <p:cNvPr id="78" name="text"/>
          <p:cNvSpPr txBox="1"/>
          <p:nvPr/>
        </p:nvSpPr>
        <p:spPr>
          <a:xfrm>
            <a:off x="11144250" y="6362700"/>
            <a:ext cx="51435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solidFill>
                  <a:srgbClr val="9FB6C4"/>
                </a:solidFill>
                <a:latin typeface="Aptos"/>
                <a:b/>
              </a:rPr>
              <a:t>03</a:t>
            </a:r>
            <a:endParaRPr lang="en-US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79" name="rec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D2B"/>
          </a:solidFill>
          <a:ln>
            <a:noFill/>
          </a:ln>
        </p:spPr>
        <p:txBody>
          <a:bodyPr/>
          <a:lstStyle/>
          <a:p/>
        </p:txBody>
      </p:sp>
      <p:sp>
        <p:nvSpPr>
          <p:cNvPr id="80" name="rect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6A11A"/>
          </a:solidFill>
          <a:ln>
            <a:noFill/>
          </a:ln>
        </p:spPr>
        <p:txBody>
          <a:bodyPr/>
          <a:lstStyle/>
          <a:p/>
        </p:txBody>
      </p:sp>
      <p:sp>
        <p:nvSpPr>
          <p:cNvPr id="81" name="text"/>
          <p:cNvSpPr txBox="1"/>
          <p:nvPr/>
        </p:nvSpPr>
        <p:spPr>
          <a:xfrm>
            <a:off x="533400" y="361950"/>
            <a:ext cx="3048000" cy="2667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400" dirty="0">
                <a:solidFill>
                  <a:srgbClr val="FFE15A"/>
                </a:solidFill>
                <a:latin typeface="Aptos"/>
                <a:b/>
              </a:rPr>
              <a:t>SYSTEM</a:t>
            </a:r>
            <a:endParaRPr lang="en-US" sz="1400"/>
          </a:p>
        </p:txBody>
      </p:sp>
      <p:sp>
        <p:nvSpPr>
          <p:cNvPr id="82" name="text"/>
          <p:cNvSpPr txBox="1"/>
          <p:nvPr/>
        </p:nvSpPr>
        <p:spPr>
          <a:xfrm>
            <a:off x="533400" y="685800"/>
            <a:ext cx="8191500" cy="990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3800" dirty="0">
                <a:solidFill>
                  <a:srgbClr val="F8FBFF"/>
                </a:solidFill>
                <a:latin typeface="Aptos"/>
                <a:b/>
              </a:rPr>
              <a:t>The production path is queued, auditable, and GitHub-native.</a:t>
            </a:r>
            <a:endParaRPr lang="en-US" sz="3800"/>
          </a:p>
        </p:txBody>
      </p:sp>
      <p:sp>
        <p:nvSpPr>
          <p:cNvPr id="83" name="rect"/>
          <p:cNvSpPr/>
          <p:nvPr/>
        </p:nvSpPr>
        <p:spPr>
          <a:xfrm>
            <a:off x="533400" y="1695450"/>
            <a:ext cx="11125200" cy="19050"/>
          </a:xfrm>
          <a:prstGeom prst="rect">
            <a:avLst/>
          </a:prstGeom>
          <a:solidFill>
            <a:srgbClr val="2F6E88"/>
          </a:solidFill>
          <a:ln>
            <a:noFill/>
          </a:ln>
        </p:spPr>
        <p:txBody>
          <a:bodyPr/>
          <a:lstStyle/>
          <a:p/>
        </p:txBody>
      </p:sp>
      <p:sp>
        <p:nvSpPr>
          <p:cNvPr id="84" name="rect"/>
          <p:cNvSpPr/>
          <p:nvPr/>
        </p:nvSpPr>
        <p:spPr>
          <a:xfrm>
            <a:off x="666750" y="2238375"/>
            <a:ext cx="2524125" cy="1123950"/>
          </a:xfrm>
          <a:prstGeom prst="rect">
            <a:avLst/>
          </a:prstGeom>
          <a:solidFill>
            <a:srgbClr val="0D3447"/>
          </a:solidFill>
          <a:ln w="25400">
            <a:solidFill>
              <a:srgbClr val="2F95FF"/>
            </a:solidFill>
          </a:ln>
        </p:spPr>
        <p:txBody>
          <a:bodyPr/>
          <a:lstStyle/>
          <a:p/>
        </p:txBody>
      </p:sp>
      <p:sp>
        <p:nvSpPr>
          <p:cNvPr id="85" name="text"/>
          <p:cNvSpPr txBox="1"/>
          <p:nvPr/>
        </p:nvSpPr>
        <p:spPr>
          <a:xfrm>
            <a:off x="838200" y="2390775"/>
            <a:ext cx="2181225" cy="2667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100" dirty="0">
                <a:solidFill>
                  <a:srgbClr val="2F95FF"/>
                </a:solidFill>
                <a:latin typeface="Aptos"/>
                <a:b/>
              </a:rPr>
              <a:t>Vercel web</a:t>
            </a:r>
            <a:endParaRPr lang="en-US" sz="2100"/>
          </a:p>
        </p:txBody>
      </p:sp>
      <p:sp>
        <p:nvSpPr>
          <p:cNvPr id="86" name="text"/>
          <p:cNvSpPr txBox="1"/>
          <p:nvPr/>
        </p:nvSpPr>
        <p:spPr>
          <a:xfrm>
            <a:off x="838200" y="2733675"/>
            <a:ext cx="2181225" cy="4953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9FB6C4"/>
                </a:solidFill>
                <a:latin typeface="Aptos"/>
              </a:rPr>
              <a:t>Homepage, /analyze, dashboard, API routes, OAuth, webhook endpoint.</a:t>
            </a:r>
            <a:endParaRPr lang="en-US" sz="1600"/>
          </a:p>
        </p:txBody>
      </p:sp>
      <p:sp>
        <p:nvSpPr>
          <p:cNvPr id="87" name="rect"/>
          <p:cNvSpPr/>
          <p:nvPr/>
        </p:nvSpPr>
        <p:spPr>
          <a:xfrm>
            <a:off x="3667125" y="2238375"/>
            <a:ext cx="2524125" cy="1123950"/>
          </a:xfrm>
          <a:prstGeom prst="rect">
            <a:avLst/>
          </a:prstGeom>
          <a:solidFill>
            <a:srgbClr val="0D3447"/>
          </a:solidFill>
          <a:ln w="25400">
            <a:solidFill>
              <a:srgbClr val="FFE15A"/>
            </a:solidFill>
          </a:ln>
        </p:spPr>
        <p:txBody>
          <a:bodyPr/>
          <a:lstStyle/>
          <a:p/>
        </p:txBody>
      </p:sp>
      <p:sp>
        <p:nvSpPr>
          <p:cNvPr id="88" name="text"/>
          <p:cNvSpPr txBox="1"/>
          <p:nvPr/>
        </p:nvSpPr>
        <p:spPr>
          <a:xfrm>
            <a:off x="3838575" y="2390775"/>
            <a:ext cx="2181225" cy="2667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100" dirty="0">
                <a:solidFill>
                  <a:srgbClr val="FFE15A"/>
                </a:solidFill>
                <a:latin typeface="Aptos"/>
                <a:b/>
              </a:rPr>
              <a:t>Postgres</a:t>
            </a:r>
            <a:endParaRPr lang="en-US" sz="2100"/>
          </a:p>
        </p:txBody>
      </p:sp>
      <p:sp>
        <p:nvSpPr>
          <p:cNvPr id="89" name="text"/>
          <p:cNvSpPr txBox="1"/>
          <p:nvPr/>
        </p:nvSpPr>
        <p:spPr>
          <a:xfrm>
            <a:off x="3838575" y="2733675"/>
            <a:ext cx="2181225" cy="4953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9FB6C4"/>
                </a:solidFill>
                <a:latin typeface="Aptos"/>
              </a:rPr>
              <a:t>Repositories, PRs, runs, findings, policies, proof comments.</a:t>
            </a:r>
            <a:endParaRPr lang="en-US" sz="1600"/>
          </a:p>
        </p:txBody>
      </p:sp>
      <p:sp>
        <p:nvSpPr>
          <p:cNvPr id="90" name="rect"/>
          <p:cNvSpPr/>
          <p:nvPr/>
        </p:nvSpPr>
        <p:spPr>
          <a:xfrm>
            <a:off x="6667500" y="2238375"/>
            <a:ext cx="2524125" cy="1123950"/>
          </a:xfrm>
          <a:prstGeom prst="rect">
            <a:avLst/>
          </a:prstGeom>
          <a:solidFill>
            <a:srgbClr val="0D3447"/>
          </a:solidFill>
          <a:ln w="25400">
            <a:solidFill>
              <a:srgbClr val="F6A11A"/>
            </a:solidFill>
          </a:ln>
        </p:spPr>
        <p:txBody>
          <a:bodyPr/>
          <a:lstStyle/>
          <a:p/>
        </p:txBody>
      </p:sp>
      <p:sp>
        <p:nvSpPr>
          <p:cNvPr id="91" name="text"/>
          <p:cNvSpPr txBox="1"/>
          <p:nvPr/>
        </p:nvSpPr>
        <p:spPr>
          <a:xfrm>
            <a:off x="6838950" y="2390775"/>
            <a:ext cx="2181225" cy="2667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100" dirty="0">
                <a:solidFill>
                  <a:srgbClr val="F6A11A"/>
                </a:solidFill>
                <a:latin typeface="Aptos"/>
                <a:b/>
              </a:rPr>
              <a:t>Redis + BullMQ</a:t>
            </a:r>
            <a:endParaRPr lang="en-US" sz="2100"/>
          </a:p>
        </p:txBody>
      </p:sp>
      <p:sp>
        <p:nvSpPr>
          <p:cNvPr id="92" name="text"/>
          <p:cNvSpPr txBox="1"/>
          <p:nvPr/>
        </p:nvSpPr>
        <p:spPr>
          <a:xfrm>
            <a:off x="6838950" y="2733675"/>
            <a:ext cx="2181225" cy="4953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9FB6C4"/>
                </a:solidFill>
                <a:latin typeface="Aptos"/>
              </a:rPr>
              <a:t>analyze-pr jobs keep webhook requests fast and reliable.</a:t>
            </a:r>
            <a:endParaRPr lang="en-US" sz="1600"/>
          </a:p>
        </p:txBody>
      </p:sp>
      <p:sp>
        <p:nvSpPr>
          <p:cNvPr id="93" name="rect"/>
          <p:cNvSpPr/>
          <p:nvPr/>
        </p:nvSpPr>
        <p:spPr>
          <a:xfrm>
            <a:off x="3667125" y="4000500"/>
            <a:ext cx="2524125" cy="1123950"/>
          </a:xfrm>
          <a:prstGeom prst="rect">
            <a:avLst/>
          </a:prstGeom>
          <a:solidFill>
            <a:srgbClr val="0D3447"/>
          </a:solidFill>
          <a:ln w="25400">
            <a:solidFill>
              <a:srgbClr val="56D690"/>
            </a:solidFill>
          </a:ln>
        </p:spPr>
        <p:txBody>
          <a:bodyPr/>
          <a:lstStyle/>
          <a:p/>
        </p:txBody>
      </p:sp>
      <p:sp>
        <p:nvSpPr>
          <p:cNvPr id="94" name="text"/>
          <p:cNvSpPr txBox="1"/>
          <p:nvPr/>
        </p:nvSpPr>
        <p:spPr>
          <a:xfrm>
            <a:off x="3838575" y="4152900"/>
            <a:ext cx="2181225" cy="2667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100" dirty="0">
                <a:solidFill>
                  <a:srgbClr val="56D690"/>
                </a:solidFill>
                <a:latin typeface="Aptos"/>
                <a:b/>
              </a:rPr>
              <a:t>Worker</a:t>
            </a:r>
            <a:endParaRPr lang="en-US" sz="2100"/>
          </a:p>
        </p:txBody>
      </p:sp>
      <p:sp>
        <p:nvSpPr>
          <p:cNvPr id="95" name="text"/>
          <p:cNvSpPr txBox="1"/>
          <p:nvPr/>
        </p:nvSpPr>
        <p:spPr>
          <a:xfrm>
            <a:off x="3838575" y="4495800"/>
            <a:ext cx="2181225" cy="4953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9FB6C4"/>
                </a:solidFill>
                <a:latin typeface="Aptos"/>
              </a:rPr>
              <a:t>Fetches PR context, runs analyzer, calls Gemini, reports back to GitHub.</a:t>
            </a:r>
            <a:endParaRPr lang="en-US" sz="1600"/>
          </a:p>
        </p:txBody>
      </p:sp>
      <p:sp>
        <p:nvSpPr>
          <p:cNvPr id="96" name="rect"/>
          <p:cNvSpPr/>
          <p:nvPr/>
        </p:nvSpPr>
        <p:spPr>
          <a:xfrm>
            <a:off x="6667500" y="4000500"/>
            <a:ext cx="2524125" cy="1123950"/>
          </a:xfrm>
          <a:prstGeom prst="rect">
            <a:avLst/>
          </a:prstGeom>
          <a:solidFill>
            <a:srgbClr val="0D3447"/>
          </a:solidFill>
          <a:ln w="25400">
            <a:solidFill>
              <a:srgbClr val="2F95FF"/>
            </a:solidFill>
          </a:ln>
        </p:spPr>
        <p:txBody>
          <a:bodyPr/>
          <a:lstStyle/>
          <a:p/>
        </p:txBody>
      </p:sp>
      <p:sp>
        <p:nvSpPr>
          <p:cNvPr id="97" name="text"/>
          <p:cNvSpPr txBox="1"/>
          <p:nvPr/>
        </p:nvSpPr>
        <p:spPr>
          <a:xfrm>
            <a:off x="6838950" y="4152900"/>
            <a:ext cx="2181225" cy="2667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100" dirty="0">
                <a:solidFill>
                  <a:srgbClr val="2F95FF"/>
                </a:solidFill>
                <a:latin typeface="Aptos"/>
                <a:b/>
              </a:rPr>
              <a:t>GitHub App</a:t>
            </a:r>
            <a:endParaRPr lang="en-US" sz="2100"/>
          </a:p>
        </p:txBody>
      </p:sp>
      <p:sp>
        <p:nvSpPr>
          <p:cNvPr id="98" name="text"/>
          <p:cNvSpPr txBox="1"/>
          <p:nvPr/>
        </p:nvSpPr>
        <p:spPr>
          <a:xfrm>
            <a:off x="6838950" y="4495800"/>
            <a:ext cx="2181225" cy="4953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9FB6C4"/>
                </a:solidFill>
                <a:latin typeface="Aptos"/>
              </a:rPr>
              <a:t>Webhooks, check runs, labels, proof-of-work comments, installation auth.</a:t>
            </a:r>
            <a:endParaRPr lang="en-US" sz="1600"/>
          </a:p>
        </p:txBody>
      </p:sp>
      <p:sp>
        <p:nvSpPr>
          <p:cNvPr id="99" name="text"/>
          <p:cNvSpPr txBox="1"/>
          <p:nvPr/>
        </p:nvSpPr>
        <p:spPr>
          <a:xfrm>
            <a:off x="838200" y="5676900"/>
            <a:ext cx="9715500" cy="3619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200" dirty="0">
                <a:solidFill>
                  <a:srgbClr val="F8FBFF"/>
                </a:solidFill>
                <a:latin typeface="Aptos"/>
              </a:rPr>
              <a:t>Public paste flow works immediately. Full automation starts when the GitHub App is installed on a demo repo.</a:t>
            </a:r>
            <a:endParaRPr lang="en-US" sz="2200"/>
          </a:p>
        </p:txBody>
      </p:sp>
      <p:sp>
        <p:nvSpPr>
          <p:cNvPr id="100" name="text"/>
          <p:cNvSpPr txBox="1"/>
          <p:nvPr/>
        </p:nvSpPr>
        <p:spPr>
          <a:xfrm>
            <a:off x="533400" y="63627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400" dirty="0">
                <a:solidFill>
                  <a:srgbClr val="9FB6C4"/>
                </a:solidFill>
                <a:latin typeface="Aptos"/>
                <a:b/>
              </a:rPr>
              <a:t>BitSpam</a:t>
            </a:r>
            <a:endParaRPr lang="en-US" sz="1400"/>
          </a:p>
        </p:txBody>
      </p:sp>
      <p:sp>
        <p:nvSpPr>
          <p:cNvPr id="101" name="text"/>
          <p:cNvSpPr txBox="1"/>
          <p:nvPr/>
        </p:nvSpPr>
        <p:spPr>
          <a:xfrm>
            <a:off x="11144250" y="6362700"/>
            <a:ext cx="51435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solidFill>
                  <a:srgbClr val="9FB6C4"/>
                </a:solidFill>
                <a:latin typeface="Aptos"/>
                <a:b/>
              </a:rPr>
              <a:t>04</a:t>
            </a:r>
            <a:endParaRPr lang="en-US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2" name="rec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D2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rect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6A11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" name="text"/>
          <p:cNvSpPr txBox="1"/>
          <p:nvPr/>
        </p:nvSpPr>
        <p:spPr>
          <a:xfrm>
            <a:off x="533400" y="361950"/>
            <a:ext cx="3048000" cy="2667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400" dirty="0">
                <a:solidFill>
                  <a:srgbClr val="FFE15A"/>
                </a:solidFill>
                <a:latin typeface="Aptos"/>
                <a:b/>
              </a:rPr>
              <a:t>DEMO</a:t>
            </a:r>
            <a:endParaRPr lang="en-US" sz="1400"/>
          </a:p>
        </p:txBody>
      </p:sp>
      <p:sp>
        <p:nvSpPr>
          <p:cNvPr id="105" name="text"/>
          <p:cNvSpPr txBox="1"/>
          <p:nvPr/>
        </p:nvSpPr>
        <p:spPr>
          <a:xfrm>
            <a:off x="533400" y="685800"/>
            <a:ext cx="8191500" cy="990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3800" dirty="0">
                <a:solidFill>
                  <a:srgbClr val="F8FBFF"/>
                </a:solidFill>
                <a:latin typeface="Aptos"/>
                <a:b/>
              </a:rPr>
              <a:t>Three PRs show the product in under three minutes.</a:t>
            </a:r>
            <a:endParaRPr lang="en-US" sz="3800"/>
          </a:p>
        </p:txBody>
      </p:sp>
      <p:sp>
        <p:nvSpPr>
          <p:cNvPr id="106" name="rect"/>
          <p:cNvSpPr/>
          <p:nvPr/>
        </p:nvSpPr>
        <p:spPr>
          <a:xfrm>
            <a:off x="533400" y="1695450"/>
            <a:ext cx="11125200" cy="19050"/>
          </a:xfrm>
          <a:prstGeom prst="rect">
            <a:avLst/>
          </a:prstGeom>
          <a:solidFill>
            <a:srgbClr val="2F6E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" name="rect"/>
          <p:cNvSpPr/>
          <p:nvPr/>
        </p:nvSpPr>
        <p:spPr>
          <a:xfrm>
            <a:off x="723900" y="2333625"/>
            <a:ext cx="3143250" cy="1123950"/>
          </a:xfrm>
          <a:prstGeom prst="rect">
            <a:avLst/>
          </a:prstGeom>
          <a:solidFill>
            <a:srgbClr val="0D3447"/>
          </a:solidFill>
          <a:ln w="25400">
            <a:solidFill>
              <a:srgbClr val="56D690"/>
            </a:solidFill>
          </a:ln>
        </p:spPr>
        <p:txBody>
          <a:bodyPr/>
          <a:lstStyle/>
          <a:p/>
        </p:txBody>
      </p:sp>
      <p:sp>
        <p:nvSpPr>
          <p:cNvPr id="108" name="text"/>
          <p:cNvSpPr txBox="1"/>
          <p:nvPr/>
        </p:nvSpPr>
        <p:spPr>
          <a:xfrm>
            <a:off x="895350" y="2486025"/>
            <a:ext cx="2800350" cy="2667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100" dirty="0">
                <a:solidFill>
                  <a:srgbClr val="56D690"/>
                </a:solidFill>
                <a:latin typeface="Aptos"/>
                <a:b/>
              </a:rPr>
              <a:t>Good PR</a:t>
            </a:r>
            <a:endParaRPr lang="en-US" sz="2100"/>
          </a:p>
        </p:txBody>
      </p:sp>
      <p:sp>
        <p:nvSpPr>
          <p:cNvPr id="109" name="text"/>
          <p:cNvSpPr txBox="1"/>
          <p:nvPr/>
        </p:nvSpPr>
        <p:spPr>
          <a:xfrm>
            <a:off x="895350" y="2828925"/>
            <a:ext cx="2800350" cy="4953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9FB6C4"/>
                </a:solidFill>
                <a:latin typeface="Aptos"/>
              </a:rPr>
              <a:t>85+: Clear issue link, scoped diff, test evidence, review-ready path.</a:t>
            </a:r>
            <a:endParaRPr lang="en-US" sz="1600"/>
          </a:p>
        </p:txBody>
      </p:sp>
      <p:sp>
        <p:nvSpPr>
          <p:cNvPr id="110" name="rect"/>
          <p:cNvSpPr/>
          <p:nvPr/>
        </p:nvSpPr>
        <p:spPr>
          <a:xfrm>
            <a:off x="4524375" y="2333625"/>
            <a:ext cx="3143250" cy="1123950"/>
          </a:xfrm>
          <a:prstGeom prst="rect">
            <a:avLst/>
          </a:prstGeom>
          <a:solidFill>
            <a:srgbClr val="0D3447"/>
          </a:solidFill>
          <a:ln w="25400">
            <a:solidFill>
              <a:srgbClr val="F6A11A"/>
            </a:solidFill>
          </a:ln>
        </p:spPr>
        <p:txBody>
          <a:bodyPr/>
          <a:lstStyle/>
          <a:p/>
        </p:txBody>
      </p:sp>
      <p:sp>
        <p:nvSpPr>
          <p:cNvPr id="111" name="text"/>
          <p:cNvSpPr txBox="1"/>
          <p:nvPr/>
        </p:nvSpPr>
        <p:spPr>
          <a:xfrm>
            <a:off x="4695825" y="2486025"/>
            <a:ext cx="2800350" cy="2667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100" dirty="0">
                <a:solidFill>
                  <a:srgbClr val="F6A11A"/>
                </a:solidFill>
                <a:latin typeface="Aptos"/>
                <a:b/>
              </a:rPr>
              <a:t>Weak PR</a:t>
            </a:r>
            <a:endParaRPr lang="en-US" sz="2100"/>
          </a:p>
        </p:txBody>
      </p:sp>
      <p:sp>
        <p:nvSpPr>
          <p:cNvPr id="112" name="text"/>
          <p:cNvSpPr txBox="1"/>
          <p:nvPr/>
        </p:nvSpPr>
        <p:spPr>
          <a:xfrm>
            <a:off x="4695825" y="2828925"/>
            <a:ext cx="2800350" cy="4953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9FB6C4"/>
                </a:solidFill>
                <a:latin typeface="Aptos"/>
              </a:rPr>
              <a:t>45-65: Generic description, no issue, no tests, asks contributor for proof.</a:t>
            </a:r>
            <a:endParaRPr lang="en-US" sz="1600"/>
          </a:p>
        </p:txBody>
      </p:sp>
      <p:sp>
        <p:nvSpPr>
          <p:cNvPr id="113" name="rect"/>
          <p:cNvSpPr/>
          <p:nvPr/>
        </p:nvSpPr>
        <p:spPr>
          <a:xfrm>
            <a:off x="8324850" y="2333625"/>
            <a:ext cx="3143250" cy="1123950"/>
          </a:xfrm>
          <a:prstGeom prst="rect">
            <a:avLst/>
          </a:prstGeom>
          <a:solidFill>
            <a:srgbClr val="0D3447"/>
          </a:solidFill>
          <a:ln w="25400">
            <a:solidFill>
              <a:srgbClr val="F05D5E"/>
            </a:solidFill>
          </a:ln>
        </p:spPr>
        <p:txBody>
          <a:bodyPr/>
          <a:lstStyle/>
          <a:p/>
        </p:txBody>
      </p:sp>
      <p:sp>
        <p:nvSpPr>
          <p:cNvPr id="114" name="text"/>
          <p:cNvSpPr txBox="1"/>
          <p:nvPr/>
        </p:nvSpPr>
        <p:spPr>
          <a:xfrm>
            <a:off x="8496300" y="2486025"/>
            <a:ext cx="2800350" cy="2667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100" dirty="0">
                <a:solidFill>
                  <a:srgbClr val="F05D5E"/>
                </a:solidFill>
                <a:latin typeface="Aptos"/>
                <a:b/>
              </a:rPr>
              <a:t>Risky PR</a:t>
            </a:r>
            <a:endParaRPr lang="en-US" sz="2100"/>
          </a:p>
        </p:txBody>
      </p:sp>
      <p:sp>
        <p:nvSpPr>
          <p:cNvPr id="115" name="text"/>
          <p:cNvSpPr txBox="1"/>
          <p:nvPr/>
        </p:nvSpPr>
        <p:spPr>
          <a:xfrm>
            <a:off x="8496300" y="2828925"/>
            <a:ext cx="2800350" cy="4953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9FB6C4"/>
                </a:solidFill>
                <a:latin typeface="Aptos"/>
              </a:rPr>
              <a:t>&lt;45: Sensitive paths, CI or workflow changes, high maintainer burden.</a:t>
            </a:r>
            <a:endParaRPr lang="en-US" sz="1600"/>
          </a:p>
        </p:txBody>
      </p:sp>
      <p:sp>
        <p:nvSpPr>
          <p:cNvPr id="116" name="text"/>
          <p:cNvSpPr txBox="1"/>
          <p:nvPr/>
        </p:nvSpPr>
        <p:spPr>
          <a:xfrm>
            <a:off x="1123950" y="5334000"/>
            <a:ext cx="9334500" cy="3429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FFE15A"/>
                </a:solidFill>
                <a:latin typeface="Aptos"/>
                <a:b/>
              </a:rPr>
              <a:t>Demo sequence: homepage -&gt; /analyze -&gt; history -&gt; dashboard -&gt; GitHub PR check run/comment.</a:t>
            </a:r>
            <a:endParaRPr lang="en-US" sz="2400"/>
          </a:p>
        </p:txBody>
      </p:sp>
      <p:sp>
        <p:nvSpPr>
          <p:cNvPr id="117" name="text"/>
          <p:cNvSpPr txBox="1"/>
          <p:nvPr/>
        </p:nvSpPr>
        <p:spPr>
          <a:xfrm>
            <a:off x="533400" y="63627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400" dirty="0">
                <a:solidFill>
                  <a:srgbClr val="9FB6C4"/>
                </a:solidFill>
                <a:latin typeface="Aptos"/>
                <a:b/>
              </a:rPr>
              <a:t>BitSpam</a:t>
            </a:r>
            <a:endParaRPr lang="en-US" sz="1400"/>
          </a:p>
        </p:txBody>
      </p:sp>
      <p:sp>
        <p:nvSpPr>
          <p:cNvPr id="118" name="text"/>
          <p:cNvSpPr txBox="1"/>
          <p:nvPr/>
        </p:nvSpPr>
        <p:spPr>
          <a:xfrm>
            <a:off x="11144250" y="6362700"/>
            <a:ext cx="51435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solidFill>
                  <a:srgbClr val="9FB6C4"/>
                </a:solidFill>
                <a:latin typeface="Aptos"/>
                <a:b/>
              </a:rPr>
              <a:t>05</a:t>
            </a:r>
            <a:endParaRPr lang="en-US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19" name="rec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D2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" name="rect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6A11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" name="text"/>
          <p:cNvSpPr txBox="1"/>
          <p:nvPr/>
        </p:nvSpPr>
        <p:spPr>
          <a:xfrm>
            <a:off x="533400" y="361950"/>
            <a:ext cx="3048000" cy="2667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400" dirty="0">
                <a:solidFill>
                  <a:srgbClr val="FFE15A"/>
                </a:solidFill>
                <a:latin typeface="Aptos"/>
                <a:b/>
              </a:rPr>
              <a:t>DEPLOYMENT</a:t>
            </a:r>
            <a:endParaRPr lang="en-US" sz="1400"/>
          </a:p>
        </p:txBody>
      </p:sp>
      <p:sp>
        <p:nvSpPr>
          <p:cNvPr id="122" name="text"/>
          <p:cNvSpPr txBox="1"/>
          <p:nvPr/>
        </p:nvSpPr>
        <p:spPr>
          <a:xfrm>
            <a:off x="533400" y="685800"/>
            <a:ext cx="8191500" cy="990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3800" dirty="0">
                <a:solidFill>
                  <a:srgbClr val="F8FBFF"/>
                </a:solidFill>
                <a:latin typeface="Aptos"/>
                <a:b/>
              </a:rPr>
              <a:t>The fastest live path uses managed services and one webhook URL.</a:t>
            </a:r>
            <a:endParaRPr lang="en-US" sz="3800"/>
          </a:p>
        </p:txBody>
      </p:sp>
      <p:sp>
        <p:nvSpPr>
          <p:cNvPr id="123" name="rect"/>
          <p:cNvSpPr/>
          <p:nvPr/>
        </p:nvSpPr>
        <p:spPr>
          <a:xfrm>
            <a:off x="533400" y="1695450"/>
            <a:ext cx="11125200" cy="19050"/>
          </a:xfrm>
          <a:prstGeom prst="rect">
            <a:avLst/>
          </a:prstGeom>
          <a:solidFill>
            <a:srgbClr val="2F6E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" name="text"/>
          <p:cNvSpPr txBox="1"/>
          <p:nvPr/>
        </p:nvSpPr>
        <p:spPr>
          <a:xfrm>
            <a:off x="876300" y="2238375"/>
            <a:ext cx="2667000" cy="2857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000" dirty="0">
                <a:solidFill>
                  <a:srgbClr val="2F95FF"/>
                </a:solidFill>
                <a:latin typeface="Aptos"/>
                <a:b/>
              </a:rPr>
              <a:t>Web</a:t>
            </a:r>
            <a:endParaRPr lang="en-US" sz="2000"/>
          </a:p>
        </p:txBody>
      </p:sp>
      <p:sp>
        <p:nvSpPr>
          <p:cNvPr id="125" name="text"/>
          <p:cNvSpPr txBox="1"/>
          <p:nvPr/>
        </p:nvSpPr>
        <p:spPr>
          <a:xfrm>
            <a:off x="3619500" y="2238375"/>
            <a:ext cx="7429500" cy="3238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000" dirty="0">
                <a:solidFill>
                  <a:srgbClr val="F8FBFF"/>
                </a:solidFill>
                <a:latin typeface="Aptos"/>
              </a:rPr>
              <a:t>Vercel: Next.js app, /dashboard, /api/github/webhook</a:t>
            </a:r>
            <a:endParaRPr lang="en-US" sz="2000"/>
          </a:p>
        </p:txBody>
      </p:sp>
      <p:sp>
        <p:nvSpPr>
          <p:cNvPr id="126" name="rect"/>
          <p:cNvSpPr/>
          <p:nvPr/>
        </p:nvSpPr>
        <p:spPr>
          <a:xfrm>
            <a:off x="876300" y="2657475"/>
            <a:ext cx="10287000" cy="9525"/>
          </a:xfrm>
          <a:prstGeom prst="rect">
            <a:avLst/>
          </a:prstGeom>
          <a:solidFill>
            <a:srgbClr val="2F6E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" name="text"/>
          <p:cNvSpPr txBox="1"/>
          <p:nvPr/>
        </p:nvSpPr>
        <p:spPr>
          <a:xfrm>
            <a:off x="876300" y="2857500"/>
            <a:ext cx="2667000" cy="2857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000" dirty="0">
                <a:solidFill>
                  <a:srgbClr val="56D690"/>
                </a:solidFill>
                <a:latin typeface="Aptos"/>
                <a:b/>
              </a:rPr>
              <a:t>Worker</a:t>
            </a:r>
            <a:endParaRPr lang="en-US" sz="2000"/>
          </a:p>
        </p:txBody>
      </p:sp>
      <p:sp>
        <p:nvSpPr>
          <p:cNvPr id="128" name="text"/>
          <p:cNvSpPr txBox="1"/>
          <p:nvPr/>
        </p:nvSpPr>
        <p:spPr>
          <a:xfrm>
            <a:off x="3619500" y="2857500"/>
            <a:ext cx="7429500" cy="3238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000" dirty="0">
                <a:solidFill>
                  <a:srgbClr val="F8FBFF"/>
                </a:solidFill>
                <a:latin typeface="Aptos"/>
              </a:rPr>
              <a:t>Render/Railway/Fly.io: corepack pnpm --filter @bitspam/worker start</a:t>
            </a:r>
            <a:endParaRPr lang="en-US" sz="2000"/>
          </a:p>
        </p:txBody>
      </p:sp>
      <p:sp>
        <p:nvSpPr>
          <p:cNvPr id="129" name="rect"/>
          <p:cNvSpPr/>
          <p:nvPr/>
        </p:nvSpPr>
        <p:spPr>
          <a:xfrm>
            <a:off x="876300" y="3276600"/>
            <a:ext cx="10287000" cy="9525"/>
          </a:xfrm>
          <a:prstGeom prst="rect">
            <a:avLst/>
          </a:prstGeom>
          <a:solidFill>
            <a:srgbClr val="2F6E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" name="text"/>
          <p:cNvSpPr txBox="1"/>
          <p:nvPr/>
        </p:nvSpPr>
        <p:spPr>
          <a:xfrm>
            <a:off x="876300" y="3476625"/>
            <a:ext cx="2667000" cy="2857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000" dirty="0">
                <a:solidFill>
                  <a:srgbClr val="FFE15A"/>
                </a:solidFill>
                <a:latin typeface="Aptos"/>
                <a:b/>
              </a:rPr>
              <a:t>Data</a:t>
            </a:r>
            <a:endParaRPr lang="en-US" sz="2000"/>
          </a:p>
        </p:txBody>
      </p:sp>
      <p:sp>
        <p:nvSpPr>
          <p:cNvPr id="131" name="text"/>
          <p:cNvSpPr txBox="1"/>
          <p:nvPr/>
        </p:nvSpPr>
        <p:spPr>
          <a:xfrm>
            <a:off x="3619500" y="3476625"/>
            <a:ext cx="7429500" cy="3238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000" dirty="0">
                <a:solidFill>
                  <a:srgbClr val="F8FBFF"/>
                </a:solidFill>
                <a:latin typeface="Aptos"/>
              </a:rPr>
              <a:t>Neon or Supabase Postgres: DATABASE_URL</a:t>
            </a:r>
            <a:endParaRPr lang="en-US" sz="2000"/>
          </a:p>
        </p:txBody>
      </p:sp>
      <p:sp>
        <p:nvSpPr>
          <p:cNvPr id="132" name="rect"/>
          <p:cNvSpPr/>
          <p:nvPr/>
        </p:nvSpPr>
        <p:spPr>
          <a:xfrm>
            <a:off x="876300" y="3895725"/>
            <a:ext cx="10287000" cy="9525"/>
          </a:xfrm>
          <a:prstGeom prst="rect">
            <a:avLst/>
          </a:prstGeom>
          <a:solidFill>
            <a:srgbClr val="2F6E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" name="text"/>
          <p:cNvSpPr txBox="1"/>
          <p:nvPr/>
        </p:nvSpPr>
        <p:spPr>
          <a:xfrm>
            <a:off x="876300" y="4095750"/>
            <a:ext cx="2667000" cy="2857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000" dirty="0">
                <a:solidFill>
                  <a:srgbClr val="F6A11A"/>
                </a:solidFill>
                <a:latin typeface="Aptos"/>
                <a:b/>
              </a:rPr>
              <a:t>Queue</a:t>
            </a:r>
            <a:endParaRPr lang="en-US" sz="2000"/>
          </a:p>
        </p:txBody>
      </p:sp>
      <p:sp>
        <p:nvSpPr>
          <p:cNvPr id="134" name="text"/>
          <p:cNvSpPr txBox="1"/>
          <p:nvPr/>
        </p:nvSpPr>
        <p:spPr>
          <a:xfrm>
            <a:off x="3619500" y="4095750"/>
            <a:ext cx="7429500" cy="3238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000" dirty="0">
                <a:solidFill>
                  <a:srgbClr val="F8FBFF"/>
                </a:solidFill>
                <a:latin typeface="Aptos"/>
              </a:rPr>
              <a:t>Redis Cloud/Railway/Upstash Redis protocol: REDIS_URL</a:t>
            </a:r>
            <a:endParaRPr lang="en-US" sz="2000"/>
          </a:p>
        </p:txBody>
      </p:sp>
      <p:sp>
        <p:nvSpPr>
          <p:cNvPr id="135" name="rect"/>
          <p:cNvSpPr/>
          <p:nvPr/>
        </p:nvSpPr>
        <p:spPr>
          <a:xfrm>
            <a:off x="876300" y="4514850"/>
            <a:ext cx="10287000" cy="9525"/>
          </a:xfrm>
          <a:prstGeom prst="rect">
            <a:avLst/>
          </a:prstGeom>
          <a:solidFill>
            <a:srgbClr val="2F6E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" name="text"/>
          <p:cNvSpPr txBox="1"/>
          <p:nvPr/>
        </p:nvSpPr>
        <p:spPr>
          <a:xfrm>
            <a:off x="876300" y="4714875"/>
            <a:ext cx="2667000" cy="2857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000" dirty="0">
                <a:solidFill>
                  <a:srgbClr val="F05D5E"/>
                </a:solidFill>
                <a:latin typeface="Aptos"/>
                <a:b/>
              </a:rPr>
              <a:t>AI</a:t>
            </a:r>
            <a:endParaRPr lang="en-US" sz="2000"/>
          </a:p>
        </p:txBody>
      </p:sp>
      <p:sp>
        <p:nvSpPr>
          <p:cNvPr id="137" name="text"/>
          <p:cNvSpPr txBox="1"/>
          <p:nvPr/>
        </p:nvSpPr>
        <p:spPr>
          <a:xfrm>
            <a:off x="3619500" y="4714875"/>
            <a:ext cx="7429500" cy="3238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000" dirty="0">
                <a:solidFill>
                  <a:srgbClr val="F8FBFF"/>
                </a:solidFill>
                <a:latin typeface="Aptos"/>
              </a:rPr>
              <a:t>Gemini API key only; OpenAI can stay blank for now</a:t>
            </a:r>
            <a:endParaRPr lang="en-US" sz="2000"/>
          </a:p>
        </p:txBody>
      </p:sp>
      <p:sp>
        <p:nvSpPr>
          <p:cNvPr id="138" name="rect"/>
          <p:cNvSpPr/>
          <p:nvPr/>
        </p:nvSpPr>
        <p:spPr>
          <a:xfrm>
            <a:off x="876300" y="5133975"/>
            <a:ext cx="10287000" cy="9525"/>
          </a:xfrm>
          <a:prstGeom prst="rect">
            <a:avLst/>
          </a:prstGeom>
          <a:solidFill>
            <a:srgbClr val="2F6E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" name="text"/>
          <p:cNvSpPr txBox="1"/>
          <p:nvPr/>
        </p:nvSpPr>
        <p:spPr>
          <a:xfrm>
            <a:off x="876300" y="5619750"/>
            <a:ext cx="8096250" cy="2857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200" dirty="0">
                <a:solidFill>
                  <a:srgbClr val="FFE15A"/>
                </a:solidFill>
                <a:latin typeface="Aptos"/>
                <a:b/>
              </a:rPr>
              <a:t>Production webhook URL: https://YOUR_DOMAIN/api/github/webhook</a:t>
            </a:r>
            <a:endParaRPr lang="en-US" sz="2200"/>
          </a:p>
        </p:txBody>
      </p:sp>
      <p:sp>
        <p:nvSpPr>
          <p:cNvPr id="140" name="text"/>
          <p:cNvSpPr txBox="1"/>
          <p:nvPr/>
        </p:nvSpPr>
        <p:spPr>
          <a:xfrm>
            <a:off x="533400" y="63627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400" dirty="0">
                <a:solidFill>
                  <a:srgbClr val="9FB6C4"/>
                </a:solidFill>
                <a:latin typeface="Aptos"/>
                <a:b/>
              </a:rPr>
              <a:t>BitSpam</a:t>
            </a:r>
            <a:endParaRPr lang="en-US" sz="1400"/>
          </a:p>
        </p:txBody>
      </p:sp>
      <p:sp>
        <p:nvSpPr>
          <p:cNvPr id="141" name="text"/>
          <p:cNvSpPr txBox="1"/>
          <p:nvPr/>
        </p:nvSpPr>
        <p:spPr>
          <a:xfrm>
            <a:off x="11144250" y="6362700"/>
            <a:ext cx="51435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solidFill>
                  <a:srgbClr val="9FB6C4"/>
                </a:solidFill>
                <a:latin typeface="Aptos"/>
                <a:b/>
              </a:rPr>
              <a:t>06</a:t>
            </a:r>
            <a:endParaRPr lang="en-US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42" name="rec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D2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" name="rect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6A11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" name="text"/>
          <p:cNvSpPr txBox="1"/>
          <p:nvPr/>
        </p:nvSpPr>
        <p:spPr>
          <a:xfrm>
            <a:off x="533400" y="361950"/>
            <a:ext cx="3048000" cy="2667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400" dirty="0">
                <a:solidFill>
                  <a:srgbClr val="FFE15A"/>
                </a:solidFill>
                <a:latin typeface="Aptos"/>
                <a:b/>
              </a:rPr>
              <a:t>Q&amp;A</a:t>
            </a:r>
            <a:endParaRPr lang="en-US" sz="1400"/>
          </a:p>
        </p:txBody>
      </p:sp>
      <p:sp>
        <p:nvSpPr>
          <p:cNvPr id="145" name="text"/>
          <p:cNvSpPr txBox="1"/>
          <p:nvPr/>
        </p:nvSpPr>
        <p:spPr>
          <a:xfrm>
            <a:off x="533400" y="685800"/>
            <a:ext cx="8191500" cy="990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3800" dirty="0">
                <a:solidFill>
                  <a:srgbClr val="F8FBFF"/>
                </a:solidFill>
                <a:latin typeface="Aptos"/>
                <a:b/>
              </a:rPr>
              <a:t>The strongest answer is fairness plus production shape.</a:t>
            </a:r>
            <a:endParaRPr lang="en-US" sz="3800"/>
          </a:p>
        </p:txBody>
      </p:sp>
      <p:sp>
        <p:nvSpPr>
          <p:cNvPr id="146" name="rect"/>
          <p:cNvSpPr/>
          <p:nvPr/>
        </p:nvSpPr>
        <p:spPr>
          <a:xfrm>
            <a:off x="533400" y="1695450"/>
            <a:ext cx="11125200" cy="19050"/>
          </a:xfrm>
          <a:prstGeom prst="rect">
            <a:avLst/>
          </a:prstGeom>
          <a:solidFill>
            <a:srgbClr val="2F6E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" name="rect"/>
          <p:cNvSpPr/>
          <p:nvPr/>
        </p:nvSpPr>
        <p:spPr>
          <a:xfrm>
            <a:off x="723900" y="2190750"/>
            <a:ext cx="4953000" cy="1123950"/>
          </a:xfrm>
          <a:prstGeom prst="rect">
            <a:avLst/>
          </a:prstGeom>
          <a:solidFill>
            <a:srgbClr val="0D3447"/>
          </a:solidFill>
          <a:ln w="25400">
            <a:solidFill>
              <a:srgbClr val="2F95FF"/>
            </a:solidFill>
          </a:ln>
        </p:spPr>
        <p:txBody>
          <a:bodyPr/>
          <a:lstStyle/>
          <a:p/>
        </p:txBody>
      </p:sp>
      <p:sp>
        <p:nvSpPr>
          <p:cNvPr id="148" name="text"/>
          <p:cNvSpPr txBox="1"/>
          <p:nvPr/>
        </p:nvSpPr>
        <p:spPr>
          <a:xfrm>
            <a:off x="895350" y="2343150"/>
            <a:ext cx="4610100" cy="2667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100" dirty="0">
                <a:solidFill>
                  <a:srgbClr val="2F95FF"/>
                </a:solidFill>
                <a:latin typeface="Aptos"/>
                <a:b/>
              </a:rPr>
              <a:t>Does AI decide who is spam?</a:t>
            </a:r>
            <a:endParaRPr lang="en-US" sz="2100"/>
          </a:p>
        </p:txBody>
      </p:sp>
      <p:sp>
        <p:nvSpPr>
          <p:cNvPr id="149" name="text"/>
          <p:cNvSpPr txBox="1"/>
          <p:nvPr/>
        </p:nvSpPr>
        <p:spPr>
          <a:xfrm>
            <a:off x="895350" y="2686050"/>
            <a:ext cx="4610100" cy="4953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9FB6C4"/>
                </a:solidFill>
                <a:latin typeface="Aptos"/>
              </a:rPr>
              <a:t>No. Deterministic checks decide public labels; Gemini adds structured reasoning that is validated and advisory.</a:t>
            </a:r>
            <a:endParaRPr lang="en-US" sz="1600"/>
          </a:p>
        </p:txBody>
      </p:sp>
      <p:sp>
        <p:nvSpPr>
          <p:cNvPr id="150" name="rect"/>
          <p:cNvSpPr/>
          <p:nvPr/>
        </p:nvSpPr>
        <p:spPr>
          <a:xfrm>
            <a:off x="6515100" y="2190750"/>
            <a:ext cx="4953000" cy="1123950"/>
          </a:xfrm>
          <a:prstGeom prst="rect">
            <a:avLst/>
          </a:prstGeom>
          <a:solidFill>
            <a:srgbClr val="0D3447"/>
          </a:solidFill>
          <a:ln w="25400">
            <a:solidFill>
              <a:srgbClr val="56D690"/>
            </a:solidFill>
          </a:ln>
        </p:spPr>
        <p:txBody>
          <a:bodyPr/>
          <a:lstStyle/>
          <a:p/>
        </p:txBody>
      </p:sp>
      <p:sp>
        <p:nvSpPr>
          <p:cNvPr id="151" name="text"/>
          <p:cNvSpPr txBox="1"/>
          <p:nvPr/>
        </p:nvSpPr>
        <p:spPr>
          <a:xfrm>
            <a:off x="6686550" y="2343150"/>
            <a:ext cx="4610100" cy="2667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100" dirty="0">
                <a:solidFill>
                  <a:srgbClr val="56D690"/>
                </a:solidFill>
                <a:latin typeface="Aptos"/>
                <a:b/>
              </a:rPr>
              <a:t>Can it work on private repos?</a:t>
            </a:r>
            <a:endParaRPr lang="en-US" sz="2100"/>
          </a:p>
        </p:txBody>
      </p:sp>
      <p:sp>
        <p:nvSpPr>
          <p:cNvPr id="152" name="text"/>
          <p:cNvSpPr txBox="1"/>
          <p:nvPr/>
        </p:nvSpPr>
        <p:spPr>
          <a:xfrm>
            <a:off x="6686550" y="2686050"/>
            <a:ext cx="4610100" cy="4953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9FB6C4"/>
                </a:solidFill>
                <a:latin typeface="Aptos"/>
              </a:rPr>
              <a:t>Yes, through GitHub App installation tokens. Paste URL is public-first; installed app handles private access.</a:t>
            </a:r>
            <a:endParaRPr lang="en-US" sz="1600"/>
          </a:p>
        </p:txBody>
      </p:sp>
      <p:sp>
        <p:nvSpPr>
          <p:cNvPr id="153" name="rect"/>
          <p:cNvSpPr/>
          <p:nvPr/>
        </p:nvSpPr>
        <p:spPr>
          <a:xfrm>
            <a:off x="723900" y="3905250"/>
            <a:ext cx="4953000" cy="1123950"/>
          </a:xfrm>
          <a:prstGeom prst="rect">
            <a:avLst/>
          </a:prstGeom>
          <a:solidFill>
            <a:srgbClr val="0D3447"/>
          </a:solidFill>
          <a:ln w="25400">
            <a:solidFill>
              <a:srgbClr val="F6A11A"/>
            </a:solidFill>
          </a:ln>
        </p:spPr>
        <p:txBody>
          <a:bodyPr/>
          <a:lstStyle/>
          <a:p/>
        </p:txBody>
      </p:sp>
      <p:sp>
        <p:nvSpPr>
          <p:cNvPr id="154" name="text"/>
          <p:cNvSpPr txBox="1"/>
          <p:nvPr/>
        </p:nvSpPr>
        <p:spPr>
          <a:xfrm>
            <a:off x="895350" y="4057650"/>
            <a:ext cx="4610100" cy="2667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100" dirty="0">
                <a:solidFill>
                  <a:srgbClr val="F6A11A"/>
                </a:solidFill>
                <a:latin typeface="Aptos"/>
                <a:b/>
              </a:rPr>
              <a:t>What prevents false positives?</a:t>
            </a:r>
            <a:endParaRPr lang="en-US" sz="2100"/>
          </a:p>
        </p:txBody>
      </p:sp>
      <p:sp>
        <p:nvSpPr>
          <p:cNvPr id="155" name="text"/>
          <p:cNvSpPr txBox="1"/>
          <p:nvPr/>
        </p:nvSpPr>
        <p:spPr>
          <a:xfrm>
            <a:off x="895350" y="4400550"/>
            <a:ext cx="4610100" cy="4953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9FB6C4"/>
                </a:solidFill>
                <a:latin typeface="Aptos"/>
              </a:rPr>
              <a:t>Verdicts are proof-of-work oriented. Weak PRs get specific questions instead of automatic rejection.</a:t>
            </a:r>
            <a:endParaRPr lang="en-US" sz="1600"/>
          </a:p>
        </p:txBody>
      </p:sp>
      <p:sp>
        <p:nvSpPr>
          <p:cNvPr id="156" name="rect"/>
          <p:cNvSpPr/>
          <p:nvPr/>
        </p:nvSpPr>
        <p:spPr>
          <a:xfrm>
            <a:off x="6515100" y="3905250"/>
            <a:ext cx="4953000" cy="1123950"/>
          </a:xfrm>
          <a:prstGeom prst="rect">
            <a:avLst/>
          </a:prstGeom>
          <a:solidFill>
            <a:srgbClr val="0D3447"/>
          </a:solidFill>
          <a:ln w="25400">
            <a:solidFill>
              <a:srgbClr val="FFE15A"/>
            </a:solidFill>
          </a:ln>
        </p:spPr>
        <p:txBody>
          <a:bodyPr/>
          <a:lstStyle/>
          <a:p/>
        </p:txBody>
      </p:sp>
      <p:sp>
        <p:nvSpPr>
          <p:cNvPr id="157" name="text"/>
          <p:cNvSpPr txBox="1"/>
          <p:nvPr/>
        </p:nvSpPr>
        <p:spPr>
          <a:xfrm>
            <a:off x="6686550" y="4057650"/>
            <a:ext cx="4610100" cy="2667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100" dirty="0">
                <a:solidFill>
                  <a:srgbClr val="FFE15A"/>
                </a:solidFill>
                <a:latin typeface="Aptos"/>
                <a:b/>
              </a:rPr>
              <a:t>Why is this useful to Bitcoin OSS?</a:t>
            </a:r>
            <a:endParaRPr lang="en-US" sz="2100"/>
          </a:p>
        </p:txBody>
      </p:sp>
      <p:sp>
        <p:nvSpPr>
          <p:cNvPr id="158" name="text"/>
          <p:cNvSpPr txBox="1"/>
          <p:nvPr/>
        </p:nvSpPr>
        <p:spPr>
          <a:xfrm>
            <a:off x="6686550" y="4400550"/>
            <a:ext cx="4610100" cy="4953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9FB6C4"/>
                </a:solidFill>
                <a:latin typeface="Aptos"/>
              </a:rPr>
              <a:t>It prioritizes scarce review attention and flags risky path changes before maintainers spend deep review time.</a:t>
            </a:r>
            <a:endParaRPr lang="en-US" sz="1600"/>
          </a:p>
        </p:txBody>
      </p:sp>
      <p:sp>
        <p:nvSpPr>
          <p:cNvPr id="159" name="text"/>
          <p:cNvSpPr txBox="1"/>
          <p:nvPr/>
        </p:nvSpPr>
        <p:spPr>
          <a:xfrm>
            <a:off x="533400" y="63627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400" dirty="0">
                <a:solidFill>
                  <a:srgbClr val="9FB6C4"/>
                </a:solidFill>
                <a:latin typeface="Aptos"/>
                <a:b/>
              </a:rPr>
              <a:t>BitSpam</a:t>
            </a:r>
            <a:endParaRPr lang="en-US" sz="1400"/>
          </a:p>
        </p:txBody>
      </p:sp>
      <p:sp>
        <p:nvSpPr>
          <p:cNvPr id="160" name="text"/>
          <p:cNvSpPr txBox="1"/>
          <p:nvPr/>
        </p:nvSpPr>
        <p:spPr>
          <a:xfrm>
            <a:off x="11144250" y="6362700"/>
            <a:ext cx="51435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solidFill>
                  <a:srgbClr val="9FB6C4"/>
                </a:solidFill>
                <a:latin typeface="Aptos"/>
                <a:b/>
              </a:rPr>
              <a:t>07</a:t>
            </a:r>
            <a:endParaRPr lang="en-US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tSpam">
  <a:themeElements>
    <a:clrScheme name="BitSpam">
      <a:dk1>
        <a:srgbClr val="071D2B"/>
      </a:dk1>
      <a:lt1>
        <a:srgbClr val="F8FBFF"/>
      </a:lt1>
      <a:dk2>
        <a:srgbClr val="102D3E"/>
      </a:dk2>
      <a:lt2>
        <a:srgbClr val="9FB6C4"/>
      </a:lt2>
      <a:accent1>
        <a:srgbClr val="2F95FF"/>
      </a:accent1>
      <a:accent2>
        <a:srgbClr val="F6A11A"/>
      </a:accent2>
      <a:accent3>
        <a:srgbClr val="FFE15A"/>
      </a:accent3>
      <a:accent4>
        <a:srgbClr val="56D690"/>
      </a:accent4>
      <a:accent5>
        <a:srgbClr val="F05D5E"/>
      </a:accent5>
      <a:accent6>
        <a:srgbClr val="2F6E88"/>
      </a:accent6>
      <a:hlink>
        <a:srgbClr val="2F95FF"/>
      </a:hlink>
      <a:folHlink>
        <a:srgbClr val="F6A11A"/>
      </a:folHlink>
    </a:clrScheme>
    <a:fontScheme name="BitSpam">
      <a:majorFont>
        <a:latin typeface="Aptos Display"/>
      </a:majorFont>
      <a:minorFont>
        <a:latin typeface="Aptos"/>
      </a:minorFont>
    </a:fontScheme>
    <a:fmtScheme name="BitSpam">
      <a:fillStyleLst>
        <a:solidFill>
          <a:schemeClr val="accent1"/>
        </a:solidFill>
      </a:fillStyleLst>
      <a:lnStyleLst>
        <a:ln w="9525">
          <a:solidFill>
            <a:schemeClr val="accent1"/>
          </a:solidFill>
        </a:ln>
      </a:lnStyleLst>
      <a:effectStyleLst>
        <a:effectStyle>
          <a:effectLst/>
        </a:effectStyle>
      </a:effectStyleLst>
      <a:bgFillStyleLst>
        <a:solidFill>
          <a:schemeClr val="dk1"/>
        </a:solidFill>
      </a:bgFillStyleLst>
    </a:fmtScheme>
  </a:themeElements>
  <a:objectDefaults/>
  <a:extraClrSchemeLst/>
</a:theme>
</file>